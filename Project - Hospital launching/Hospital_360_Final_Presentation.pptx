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324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324D"/>
                </a:solidFill>
                <a:latin typeface="Arial"/>
              </a:rPr>
              <a:t>Weighted Score by Criterion (out of 5.0, weighted)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Score</c:v>
                </c:pt>
              </c:strCache>
            </c:strRef>
          </c:tx>
          <c:spPr>
            <a:solidFill>
              <a:srgbClr val="2CA58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32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Catchment</c:v>
                  </c:pt>
                  <c:pt idx="1">
                    <c:v>Accessibility</c:v>
                  </c:pt>
                  <c:pt idx="2">
                    <c:v>Healthcare Ecosystem</c:v>
                  </c:pt>
                  <c:pt idx="3">
                    <c:v>Competition</c:v>
                  </c:pt>
                  <c:pt idx="4">
                    <c:v>Land Availability</c:v>
                  </c:pt>
                  <c:pt idx="5">
                    <c:v>Utilities</c:v>
                  </c:pt>
                  <c:pt idx="6">
                    <c:v>Workforce</c:v>
                  </c:pt>
                  <c:pt idx="7">
                    <c:v>Tourism Upside</c:v>
                  </c:pt>
                  <c:pt idx="8">
                    <c:v>Expansion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0.72</c:v>
                </c:pt>
                <c:pt idx="1">
                  <c:v>0.56</c:v>
                </c:pt>
                <c:pt idx="2">
                  <c:v>0.56</c:v>
                </c:pt>
                <c:pt idx="3">
                  <c:v>0.36</c:v>
                </c:pt>
                <c:pt idx="4">
                  <c:v>0.36</c:v>
                </c:pt>
                <c:pt idx="5">
                  <c:v>0.4</c:v>
                </c:pt>
                <c:pt idx="6">
                  <c:v>0.24</c:v>
                </c:pt>
                <c:pt idx="7">
                  <c:v>0.24</c:v>
                </c:pt>
                <c:pt idx="8">
                  <c:v>0.18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332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324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324D"/>
                </a:solidFill>
                <a:latin typeface="Arial"/>
              </a:rPr>
              <a:t>Bed Mix — Launch vs. Mature (100 licensed beds)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Launch</c:v>
                </c:pt>
              </c:strCache>
            </c:strRef>
          </c:tx>
          <c:spPr>
            <a:solidFill>
              <a:srgbClr val="61A5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7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Gen. Ward</c:v>
                  </c:pt>
                  <c:pt idx="1">
                    <c:v>Paeds</c:v>
                  </c:pt>
                  <c:pt idx="2">
                    <c:v>Maternity</c:v>
                  </c:pt>
                  <c:pt idx="3">
                    <c:v>NICU</c:v>
                  </c:pt>
                  <c:pt idx="4">
                    <c:v>ICU/HDU</c:v>
                  </c:pt>
                  <c:pt idx="5">
                    <c:v>Semi-Pvt</c:v>
                  </c:pt>
                  <c:pt idx="6">
                    <c:v>Private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</c:v>
                </c:pt>
                <c:pt idx="1">
                  <c:v>6</c:v>
                </c:pt>
                <c:pt idx="2">
                  <c:v>6</c:v>
                </c:pt>
                <c:pt idx="3">
                  <c:v>4</c:v>
                </c:pt>
                <c:pt idx="4">
                  <c:v>8</c:v>
                </c:pt>
                <c:pt idx="5">
                  <c:v>14</c:v>
                </c:pt>
                <c:pt idx="6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Mature (Yr5)</c:v>
                </c:pt>
              </c:strCache>
            </c:strRef>
          </c:tx>
          <c:spPr>
            <a:solidFill>
              <a:srgbClr val="1F4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7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Gen. Ward</c:v>
                  </c:pt>
                  <c:pt idx="1">
                    <c:v>Paeds</c:v>
                  </c:pt>
                  <c:pt idx="2">
                    <c:v>Maternity</c:v>
                  </c:pt>
                  <c:pt idx="3">
                    <c:v>NICU</c:v>
                  </c:pt>
                  <c:pt idx="4">
                    <c:v>ICU/HDU</c:v>
                  </c:pt>
                  <c:pt idx="5">
                    <c:v>Semi-Pvt</c:v>
                  </c:pt>
                  <c:pt idx="6">
                    <c:v>Private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30</c:v>
                </c:pt>
                <c:pt idx="1">
                  <c:v>8</c:v>
                </c:pt>
                <c:pt idx="2">
                  <c:v>8</c:v>
                </c:pt>
                <c:pt idx="3">
                  <c:v>6</c:v>
                </c:pt>
                <c:pt idx="4">
                  <c:v>12</c:v>
                </c:pt>
                <c:pt idx="5">
                  <c:v>18</c:v>
                </c:pt>
                <c:pt idx="6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B67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324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324D"/>
                </a:solidFill>
                <a:latin typeface="Arial"/>
              </a:rPr>
              <a:t>Core FTE by Function — Launch vs. Mature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Launch</c:v>
                </c:pt>
              </c:strCache>
            </c:strRef>
          </c:tx>
          <c:spPr>
            <a:solidFill>
              <a:srgbClr val="61A5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7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Medical</c:v>
                  </c:pt>
                  <c:pt idx="1">
                    <c:v>Nursing</c:v>
                  </c:pt>
                  <c:pt idx="2">
                    <c:v>Allied Health</c:v>
                  </c:pt>
                  <c:pt idx="3">
                    <c:v>Admin</c:v>
                  </c:pt>
                  <c:pt idx="4">
                    <c:v>Support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65</c:v>
                </c:pt>
                <c:pt idx="2">
                  <c:v>35</c:v>
                </c:pt>
                <c:pt idx="3">
                  <c:v>19</c:v>
                </c:pt>
                <c:pt idx="4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Mature</c:v>
                </c:pt>
              </c:strCache>
            </c:strRef>
          </c:tx>
          <c:spPr>
            <a:solidFill>
              <a:srgbClr val="1F4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7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Medical</c:v>
                  </c:pt>
                  <c:pt idx="1">
                    <c:v>Nursing</c:v>
                  </c:pt>
                  <c:pt idx="2">
                    <c:v>Allied Health</c:v>
                  </c:pt>
                  <c:pt idx="3">
                    <c:v>Admin</c:v>
                  </c:pt>
                  <c:pt idx="4">
                    <c:v>Support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</c:v>
                </c:pt>
                <c:pt idx="1">
                  <c:v>98</c:v>
                </c:pt>
                <c:pt idx="2">
                  <c:v>57</c:v>
                </c:pt>
                <c:pt idx="3">
                  <c:v>28</c:v>
                </c:pt>
                <c:pt idx="4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B67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324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324D"/>
                </a:solidFill>
                <a:latin typeface="Arial"/>
              </a:rPr>
              <a:t>Revenue &amp; EBITDA Trend (₹ 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(₹ Cr)</c:v>
                </c:pt>
              </c:strCache>
            </c:strRef>
          </c:tx>
          <c:spPr>
            <a:solidFill>
              <a:srgbClr val="1F4E78"/>
            </a:solidFill>
            <a:ln w="31750" cap="flat">
              <a:solidFill>
                <a:srgbClr val="1F4E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4E78"/>
              </a:solidFill>
              <a:ln w="9525" cap="flat">
                <a:solidFill>
                  <a:srgbClr val="1F4E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  <c:pt idx="3">
                    <c:v>Yr4</c:v>
                  </c:pt>
                  <c:pt idx="4">
                    <c:v>Yr5</c:v>
                  </c:pt>
                  <c:pt idx="5">
                    <c:v>Yr6</c:v>
                  </c:pt>
                  <c:pt idx="6">
                    <c:v>Yr7</c:v>
                  </c:pt>
                  <c:pt idx="7">
                    <c:v>Yr8</c:v>
                  </c:pt>
                  <c:pt idx="8">
                    <c:v>Yr9</c:v>
                  </c:pt>
                  <c:pt idx="9">
                    <c:v>Yr10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17.4</c:v>
                </c:pt>
                <c:pt idx="1">
                  <c:v>23.5</c:v>
                </c:pt>
                <c:pt idx="2">
                  <c:v>30.8</c:v>
                </c:pt>
                <c:pt idx="3">
                  <c:v>37.7</c:v>
                </c:pt>
                <c:pt idx="4">
                  <c:v>45.6</c:v>
                </c:pt>
                <c:pt idx="5">
                  <c:v>48.3</c:v>
                </c:pt>
                <c:pt idx="6">
                  <c:v>51.3</c:v>
                </c:pt>
                <c:pt idx="7">
                  <c:v>54.3</c:v>
                </c:pt>
                <c:pt idx="8">
                  <c:v>57.6</c:v>
                </c:pt>
                <c:pt idx="9">
                  <c:v>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(₹ Cr)</c:v>
                </c:pt>
              </c:strCache>
            </c:strRef>
          </c:tx>
          <c:spPr>
            <a:solidFill>
              <a:srgbClr val="2CA58D"/>
            </a:solidFill>
            <a:ln w="31750" cap="flat">
              <a:solidFill>
                <a:srgbClr val="2CA5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CA58D"/>
              </a:solidFill>
              <a:ln w="9525" cap="flat">
                <a:solidFill>
                  <a:srgbClr val="2CA5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Yr1</c:v>
                  </c:pt>
                  <c:pt idx="1">
                    <c:v>Yr2</c:v>
                  </c:pt>
                  <c:pt idx="2">
                    <c:v>Yr3</c:v>
                  </c:pt>
                  <c:pt idx="3">
                    <c:v>Yr4</c:v>
                  </c:pt>
                  <c:pt idx="4">
                    <c:v>Yr5</c:v>
                  </c:pt>
                  <c:pt idx="5">
                    <c:v>Yr6</c:v>
                  </c:pt>
                  <c:pt idx="6">
                    <c:v>Yr7</c:v>
                  </c:pt>
                  <c:pt idx="7">
                    <c:v>Yr8</c:v>
                  </c:pt>
                  <c:pt idx="8">
                    <c:v>Yr9</c:v>
                  </c:pt>
                  <c:pt idx="9">
                    <c:v>Yr10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-2.4</c:v>
                </c:pt>
                <c:pt idx="1">
                  <c:v>0.2</c:v>
                </c:pt>
                <c:pt idx="2">
                  <c:v>3.6</c:v>
                </c:pt>
                <c:pt idx="3">
                  <c:v>6</c:v>
                </c:pt>
                <c:pt idx="4">
                  <c:v>9</c:v>
                </c:pt>
                <c:pt idx="5">
                  <c:v>9</c:v>
                </c:pt>
                <c:pt idx="6">
                  <c:v>8.9</c:v>
                </c:pt>
                <c:pt idx="7">
                  <c:v>8.8</c:v>
                </c:pt>
                <c:pt idx="8">
                  <c:v>8.6</c:v>
                </c:pt>
                <c:pt idx="9">
                  <c:v>8.3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324D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4206240"/>
            <a:ext cx="3840480" cy="3840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5394960"/>
            <a:ext cx="2377440" cy="2377440"/>
          </a:xfrm>
          <a:prstGeom prst="ellipse">
            <a:avLst/>
          </a:prstGeom>
          <a:solidFill>
            <a:srgbClr val="2CA58D"/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-1463040"/>
            <a:ext cx="3108960" cy="3108960"/>
          </a:xfrm>
          <a:prstGeom prst="ellipse">
            <a:avLst/>
          </a:prstGeom>
          <a:solidFill>
            <a:srgbClr val="61A5C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360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Healthcare Management &amp; Analytics Model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2011680" cy="0"/>
          </a:xfrm>
          <a:prstGeom prst="line">
            <a:avLst/>
          </a:prstGeom>
          <a:noFill/>
          <a:ln w="38100">
            <a:solidFill>
              <a:srgbClr val="2CA58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690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100-Bed Regional Multispecialty Hospital Concept — Kangra–Palampur Corridor, Himachal Pradesh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 w="12700">
            <a:solidFill>
              <a:srgbClr val="61A5C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8920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100-Bed Licensed Capacity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55848" y="48920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 w="12700">
            <a:solidFill>
              <a:srgbClr val="61A5C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55848" y="4892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 Cr Base Case CAPEX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05856" y="489204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 w="12700">
            <a:solidFill>
              <a:srgbClr val="61A5C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05856" y="48920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Academic Model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Pharma &amp; Healthcare Management Capstone — Dev, Shoolini Business School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PROJECT FOUNDATION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5F8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residents rely heavily on one large public tertiary hospital (RPGMC Tanda) or must travel to Chandigarh/Delhi for advanced care. The private sector remains concentrated around a single established player.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Dharamshala–McLeodganj's large tourism-driven floating population adds emergency and wellness demand the current provider mix does not fully serve.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0292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tests — transparently and with labelled assumptions — whether a 100-bed NABH-oriented hospital can close part of this gap.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828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240280"/>
            <a:ext cx="384048" cy="384048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240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8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22402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market opportunity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2862072"/>
            <a:ext cx="384048" cy="384048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2862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8" dirty="0"/>
          </a:p>
        </p:txBody>
      </p:sp>
      <p:sp>
        <p:nvSpPr>
          <p:cNvPr id="15" name="Text 13"/>
          <p:cNvSpPr txBox="1"/>
          <p:nvPr/>
        </p:nvSpPr>
        <p:spPr>
          <a:xfrm>
            <a:off x="6784848" y="286207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location feasibility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483864"/>
            <a:ext cx="384048" cy="384048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8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348386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service &amp; manpower model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4105656"/>
            <a:ext cx="384048" cy="384048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4105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8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410565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10-year financial model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63640" y="4727448"/>
            <a:ext cx="384048" cy="384048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4727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8" dirty="0"/>
          </a:p>
        </p:txBody>
      </p:sp>
      <p:sp>
        <p:nvSpPr>
          <p:cNvPr id="24" name="Text 22"/>
          <p:cNvSpPr txBox="1"/>
          <p:nvPr/>
        </p:nvSpPr>
        <p:spPr>
          <a:xfrm>
            <a:off x="6784848" y="472744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operations &amp; NABH quality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63640" y="5349240"/>
            <a:ext cx="384048" cy="384048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5349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8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53492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at an evidence-based Go/No-Go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MARKET ANALYSIS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Himachal Healthcare 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4E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 L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Kangra district population (Census 2011)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4E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8288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 L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514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5-tehsil catchment population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4E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8288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12.8%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514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Kangra decadal growth rate 2001–11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F4E7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8288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514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RPGMC Tanda beds — dominant public tertiary provider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0881360" cy="2423160"/>
          </a:xfrm>
          <a:prstGeom prst="roundRect">
            <a:avLst>
              <a:gd name="adj" fmla="val 3019"/>
            </a:avLst>
          </a:prstGeom>
          <a:solidFill>
            <a:srgbClr val="F5F8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9319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CAPACITY IN THE CORRIDOR IS THIN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29768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Fortis Hospital, Kangra (~100 beds)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only established private multispecialty player; Zonal Hospital Dharamshala and Civil Hospital Palampur add public secondary capacity, but organised private tertiary options remain limited relative to RPGMC Tanda's scale.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1663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discipline: every figure above is tagged Actual Public Data, Benchmark, Assumption, or Calculated Value in the Source Register — no figure is presented without its basis.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LOCATION FEASIBILITY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Kangra–Palampur Location Feasibility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492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600200"/>
            <a:ext cx="4343400" cy="1920240"/>
          </a:xfrm>
          <a:prstGeom prst="roundRect">
            <a:avLst>
              <a:gd name="adj" fmla="val 3810"/>
            </a:avLst>
          </a:prstGeom>
          <a:solidFill>
            <a:srgbClr val="1F4E7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69480" y="178308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/ 5.0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26060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WEIGHTED SCORE — CONDITIONAL GO BAND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379476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FLAGS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4114800"/>
            <a:ext cx="4343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Hill-state land assembly is slower &amp; costlier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Clinical/nursing retention risk in a hill town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Moderate competitive intensity (not zero)
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SERVICE &amp; BUSINESS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Business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1F4E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85623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58568"/>
            <a:ext cx="31363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Trusted, NABH-oriented multispecialty care — reducing travel to Chandigarh/Delhi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24528" y="169164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1F4E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25696" y="185623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25696" y="2258568"/>
            <a:ext cx="31363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catchment, tourists, referral network, insurance/scheme beneficiaries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00416" y="169164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1F4E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01584" y="185623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01584" y="2258568"/>
            <a:ext cx="31363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IPD ~62% · OPD, Diagnostics &amp; Pharmacy ~38%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F5F8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414223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544568"/>
            <a:ext cx="31363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talent, 100-bed infrastructure, NABH systems, HIS/analytics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24528" y="397764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F5F8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25696" y="414223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25696" y="4544568"/>
            <a:ext cx="31363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RPGMC Tanda, insurers/TPAs, govt. schemes, hospitality sector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0416" y="397764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F5F8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01584" y="4142232"/>
            <a:ext cx="3136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01584" y="4544568"/>
            <a:ext cx="313639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 (~40% of OPEX), consumables, maintenance, marketing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CAPACITY PLANNING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100-Bed Capacity &amp; Infrastructure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6751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91640"/>
            <a:ext cx="4114800" cy="932688"/>
          </a:xfrm>
          <a:prstGeom prst="roundRect">
            <a:avLst>
              <a:gd name="adj" fmla="val 7843"/>
            </a:avLst>
          </a:prstGeom>
          <a:solidFill>
            <a:srgbClr val="F5F8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99248" y="180136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acres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464040" y="180136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parcel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98080" y="2761488"/>
            <a:ext cx="4114800" cy="932688"/>
          </a:xfrm>
          <a:prstGeom prst="roundRect">
            <a:avLst>
              <a:gd name="adj" fmla="val 7843"/>
            </a:avLst>
          </a:prstGeom>
          <a:solidFill>
            <a:srgbClr val="F5F8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99248" y="28712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1,50,000 sq ft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464040" y="287121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built-up area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3831336"/>
            <a:ext cx="4114800" cy="932688"/>
          </a:xfrm>
          <a:prstGeom prst="roundRect">
            <a:avLst>
              <a:gd name="adj" fmla="val 7843"/>
            </a:avLst>
          </a:prstGeom>
          <a:solidFill>
            <a:srgbClr val="F5F8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99248" y="394106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months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9464040" y="394106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&amp; fit-out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0" y="4901184"/>
            <a:ext cx="4114800" cy="932688"/>
          </a:xfrm>
          <a:prstGeom prst="roundRect">
            <a:avLst>
              <a:gd name="adj" fmla="val 7843"/>
            </a:avLst>
          </a:prstGeom>
          <a:solidFill>
            <a:srgbClr val="F5F8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99248" y="501091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floors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501091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zoning plan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MANPOWER PLANNING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Manpower Model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4592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1F4E7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80960" y="181051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~2.0x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60604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STAFF : BED RATIO — within the ~2.0x–2.8x Indian private-hospital norm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9776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29768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15% leave/training reserve is applied on top of core FTE for every function, so rostered care is never compromised by planned absence.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FINANCIAL FEASIBILITY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 Cr Financial Model — Base Case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45920"/>
            <a:ext cx="3977640" cy="1024128"/>
          </a:xfrm>
          <a:prstGeom prst="roundRect">
            <a:avLst>
              <a:gd name="adj" fmla="val 7143"/>
            </a:avLst>
          </a:prstGeom>
          <a:solidFill>
            <a:srgbClr val="F5F8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82128" y="1737360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 / 40 / 60 Cr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646920" y="1737360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/ Lean / Upper CAPEX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80960" y="2807208"/>
            <a:ext cx="3977640" cy="1024128"/>
          </a:xfrm>
          <a:prstGeom prst="roundRect">
            <a:avLst>
              <a:gd name="adj" fmla="val 7143"/>
            </a:avLst>
          </a:prstGeom>
          <a:solidFill>
            <a:srgbClr val="F5F8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882128" y="2898648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4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646920" y="2898648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break-even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80960" y="3968496"/>
            <a:ext cx="3977640" cy="1024128"/>
          </a:xfrm>
          <a:prstGeom prst="roundRect">
            <a:avLst>
              <a:gd name="adj" fmla="val 7143"/>
            </a:avLst>
          </a:prstGeom>
          <a:solidFill>
            <a:srgbClr val="F5F8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82128" y="4059936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~1.9x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9646920" y="4059936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DSCR by Year 10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80960" y="5129784"/>
            <a:ext cx="3977640" cy="1024128"/>
          </a:xfrm>
          <a:prstGeom prst="roundRect">
            <a:avLst>
              <a:gd name="adj" fmla="val 7143"/>
            </a:avLst>
          </a:prstGeom>
          <a:solidFill>
            <a:srgbClr val="F5F8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82128" y="5221224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~23%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9646920" y="5221224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of safety, Yr 5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— OPERATIONS BLUEPRINT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Operations &amp; Patient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216152" cy="1051560"/>
          </a:xfrm>
          <a:prstGeom prst="roundRect">
            <a:avLst>
              <a:gd name="adj" fmla="val 5217"/>
            </a:avLst>
          </a:prstGeom>
          <a:solidFill>
            <a:srgbClr val="1F4E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920240"/>
            <a:ext cx="11247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Triage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9384" y="1920240"/>
            <a:ext cx="1216152" cy="1051560"/>
          </a:xfrm>
          <a:prstGeom prst="roundRect">
            <a:avLst>
              <a:gd name="adj" fmla="val 5217"/>
            </a:avLst>
          </a:prstGeom>
          <a:solidFill>
            <a:srgbClr val="2CA58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75104" y="1920240"/>
            <a:ext cx="11247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920240"/>
            <a:ext cx="1216152" cy="1051560"/>
          </a:xfrm>
          <a:prstGeom prst="roundRect">
            <a:avLst>
              <a:gd name="adj" fmla="val 5217"/>
            </a:avLst>
          </a:prstGeom>
          <a:solidFill>
            <a:srgbClr val="1F4E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55848" y="1920240"/>
            <a:ext cx="11247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90872" y="1920240"/>
            <a:ext cx="1216152" cy="1051560"/>
          </a:xfrm>
          <a:prstGeom prst="roundRect">
            <a:avLst>
              <a:gd name="adj" fmla="val 5217"/>
            </a:avLst>
          </a:prstGeom>
          <a:solidFill>
            <a:srgbClr val="2CA58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36592" y="1920240"/>
            <a:ext cx="11247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1920240"/>
            <a:ext cx="1216152" cy="1051560"/>
          </a:xfrm>
          <a:prstGeom prst="roundRect">
            <a:avLst>
              <a:gd name="adj" fmla="val 5217"/>
            </a:avLst>
          </a:prstGeom>
          <a:solidFill>
            <a:srgbClr val="1F4E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17336" y="1920240"/>
            <a:ext cx="11247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req'd)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52360" y="1920240"/>
            <a:ext cx="1216152" cy="1051560"/>
          </a:xfrm>
          <a:prstGeom prst="roundRect">
            <a:avLst>
              <a:gd name="adj" fmla="val 5217"/>
            </a:avLst>
          </a:prstGeom>
          <a:solidFill>
            <a:srgbClr val="2CA58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0" y="1920240"/>
            <a:ext cx="11247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IPD Care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33104" y="1920240"/>
            <a:ext cx="1216152" cy="1051560"/>
          </a:xfrm>
          <a:prstGeom prst="roundRect">
            <a:avLst>
              <a:gd name="adj" fmla="val 5217"/>
            </a:avLst>
          </a:prstGeom>
          <a:solidFill>
            <a:srgbClr val="1F4E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78824" y="1920240"/>
            <a:ext cx="11247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213848" y="1920240"/>
            <a:ext cx="1216152" cy="1051560"/>
          </a:xfrm>
          <a:prstGeom prst="roundRect">
            <a:avLst>
              <a:gd name="adj" fmla="val 5217"/>
            </a:avLst>
          </a:prstGeom>
          <a:solidFill>
            <a:srgbClr val="2CA58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59568" y="1920240"/>
            <a:ext cx="112471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764792" y="1920240"/>
            <a:ext cx="164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145536" y="1920240"/>
            <a:ext cx="164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1920240"/>
            <a:ext cx="164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907024" y="1920240"/>
            <a:ext cx="164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287768" y="1920240"/>
            <a:ext cx="164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668512" y="1920240"/>
            <a:ext cx="164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049256" y="1920240"/>
            <a:ext cx="1645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4290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OPERATIONAL SOPs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Management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5262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HIS bed status, reconciled every shift change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19272" y="384048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502152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Scheduling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02152" y="45262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slate + protected emergency slots; WHO safety checklist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89904" y="384048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72784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TAT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6272784" y="45262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labs &lt;4 hrs; STAT orders &lt;1 hr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860536" y="384048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043416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Huddle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9043416" y="45262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morning review of beds, OT, safety incidents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QUALITY &amp; ACCREDITATION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NABH-Oriented Quality Framework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0136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AAC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1343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Assessment &amp; Continuity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52344" y="16916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52344" y="180136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862072" y="231343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of Patients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56048" y="16916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56048" y="180136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65776" y="231343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of Medication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59752" y="16916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9752" y="180136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31343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Rights &amp; Education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63456" y="169164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63456" y="180136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HIC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473184" y="231343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Control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5584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PSQ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86791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Safety &amp; Quality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52344" y="32461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752344" y="335584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2862072" y="386791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of Mgmt.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56048" y="32461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56048" y="335584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065776" y="386791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Mgmt. &amp; Safety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59752" y="32461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59752" y="335584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HRM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386791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 Mgmt.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363456" y="32461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363456" y="335584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IMS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9473184" y="3867912"/>
            <a:ext cx="18653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Mgmt. System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120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440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Quality Assurance Committee (chaired by the CEO) oversees Infection Control, Pharmacy &amp; Therapeutics, and Patient Safety sub-committees, with blame-free incident reporting feeding a formal RCA/CAPA process — building towards a Month-12 NABH pre-assessment application.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— COMPETITIVE LANDSCAPE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Benchmark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5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92808"/>
            <a:ext cx="2276856" cy="73152"/>
          </a:xfrm>
          <a:prstGeom prst="roundRect">
            <a:avLst/>
          </a:prstGeom>
          <a:solidFill>
            <a:srgbClr val="2CA58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075688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Fortis Kangra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74320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beds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200400"/>
            <a:ext cx="2276856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private brand, already in-market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5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1892808"/>
            <a:ext cx="2276856" cy="73152"/>
          </a:xfrm>
          <a:prstGeom prst="roundRect">
            <a:avLst/>
          </a:prstGeom>
          <a:solidFill>
            <a:srgbClr val="61A5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56432" y="2075688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RPGMC Tanda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274320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~950 beds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56432" y="3200400"/>
            <a:ext cx="2276856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subsidised cost, academic backing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5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1892808"/>
            <a:ext cx="2276856" cy="73152"/>
          </a:xfrm>
          <a:prstGeom prst="roundRect">
            <a:avLst/>
          </a:prstGeom>
          <a:solidFill>
            <a:srgbClr val="5B677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99632" y="2075688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Out-of-State (Chd/Delhi)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274320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300–1000+ beds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3200400"/>
            <a:ext cx="2276856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tertiary/quaternary capability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778240" y="16916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F4E78"/>
          </a:solidFill>
          <a:ln/>
        </p:spPr>
      </p:sp>
      <p:sp>
        <p:nvSpPr>
          <p:cNvPr id="20" name="Shape 18"/>
          <p:cNvSpPr/>
          <p:nvPr/>
        </p:nvSpPr>
        <p:spPr>
          <a:xfrm>
            <a:off x="8942832" y="1892808"/>
            <a:ext cx="2276856" cy="73152"/>
          </a:xfrm>
          <a:prstGeom prst="roundRect">
            <a:avLst/>
          </a:prstGeom>
          <a:solidFill>
            <a:srgbClr val="1F4E7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42832" y="2075688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360 (Proposed)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942832" y="2743200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beds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942832" y="3200400"/>
            <a:ext cx="2276856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access + NABH quality + tourism-linked wellness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— ANALYTICS LAYER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Analytics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676400" cy="914400"/>
          </a:xfrm>
          <a:prstGeom prst="roundRect">
            <a:avLst>
              <a:gd name="adj" fmla="val 6000"/>
            </a:avLst>
          </a:prstGeom>
          <a:solidFill>
            <a:srgbClr val="1F4E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67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89632" y="1783080"/>
            <a:ext cx="1676400" cy="914400"/>
          </a:xfrm>
          <a:prstGeom prst="roundRect">
            <a:avLst>
              <a:gd name="adj" fmla="val 6000"/>
            </a:avLst>
          </a:prstGeom>
          <a:solidFill>
            <a:srgbClr val="1F4E7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89632" y="1783080"/>
            <a:ext cx="167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30624" y="1783080"/>
            <a:ext cx="1676400" cy="914400"/>
          </a:xfrm>
          <a:prstGeom prst="roundRect">
            <a:avLst>
              <a:gd name="adj" fmla="val 6000"/>
            </a:avLst>
          </a:prstGeom>
          <a:solidFill>
            <a:srgbClr val="1F4E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30624" y="1783080"/>
            <a:ext cx="167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71616" y="1783080"/>
            <a:ext cx="1676400" cy="914400"/>
          </a:xfrm>
          <a:prstGeom prst="roundRect">
            <a:avLst>
              <a:gd name="adj" fmla="val 6000"/>
            </a:avLst>
          </a:prstGeom>
          <a:solidFill>
            <a:srgbClr val="1F4E7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71616" y="1783080"/>
            <a:ext cx="167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12608" y="1783080"/>
            <a:ext cx="1676400" cy="914400"/>
          </a:xfrm>
          <a:prstGeom prst="roundRect">
            <a:avLst>
              <a:gd name="adj" fmla="val 6000"/>
            </a:avLst>
          </a:prstGeom>
          <a:solidFill>
            <a:srgbClr val="1F4E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12608" y="1783080"/>
            <a:ext cx="167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753600" y="1783080"/>
            <a:ext cx="1676400" cy="914400"/>
          </a:xfrm>
          <a:prstGeom prst="roundRect">
            <a:avLst>
              <a:gd name="adj" fmla="val 6000"/>
            </a:avLst>
          </a:prstGeom>
          <a:solidFill>
            <a:srgbClr val="1F4E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753600" y="1783080"/>
            <a:ext cx="167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225040" y="178308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066032" y="178308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907024" y="178308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48016" y="178308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589008" y="178308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0632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FACT TABLES (SYNTHETIC DATA)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4747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Fact_OPD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91840" y="34747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91840" y="34747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Fact_IPD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35040" y="34747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035040" y="34747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Fact_Emergency_OT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78240" y="34747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778240" y="34747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Fact_Diagnostics_Pharmacy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3891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43891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Fact_Bed_Occupancy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291840" y="43891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291840" y="43891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Fact_Revenue_Monthly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035040" y="43891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035040" y="43891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Fact_Quality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778240" y="43891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778240" y="43891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Fact_HR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All Analytics-layer data is clearly labelled SYNTHETIC — generated to demonstrate the reporting architecture, not real patient/hospital data.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(CONT.) — EXECUTIVE DASHBOARD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D7F0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an interactive HTML dashboard (Hospital_360_Dashboard.html) in place of a native Power BI .pbix file — Power BI Desktop is not available in this environment, but the underlying star-schema data is fully Power-BI-ready.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5F8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063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747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Occupancy, revenue &amp; EBITDA trend, headline KPIs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29260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5F8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0" y="3063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4747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footfall, IPD admissions, ALOS, conversion rate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29260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5F8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0" y="3063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Beds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4747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Ward-wise occupancy, ICU/HDU utilisation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5F8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&amp; Pharmacy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212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Lab/imaging volumes, TAT, Rx filled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06240" y="46634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5F8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8912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Safety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5212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rate, fall rate, medication errors, CSAT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63840" y="46634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5F8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Workforce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5212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ramp-up, attrition, vacancy, training hours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— RISK &amp; GROWTH PLANNING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Mitigation &amp; Expansion Triggers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309360" cy="841248"/>
          </a:xfrm>
          <a:prstGeom prst="roundRect">
            <a:avLst>
              <a:gd name="adj" fmla="val 6522"/>
            </a:avLst>
          </a:prstGeom>
          <a:solidFill>
            <a:srgbClr val="F5F8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084832"/>
            <a:ext cx="5989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ramp-up slower than modelled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432304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Phase service-line launch to actual traction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6309360" cy="841248"/>
          </a:xfrm>
          <a:prstGeom prst="roundRect">
            <a:avLst>
              <a:gd name="adj" fmla="val 6522"/>
            </a:avLst>
          </a:prstGeom>
          <a:solidFill>
            <a:srgbClr val="F5F8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3026664"/>
            <a:ext cx="5989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retention in hill-state location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374136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Housing support + CME pathway + college tie-ups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95344"/>
            <a:ext cx="6309360" cy="841248"/>
          </a:xfrm>
          <a:prstGeom prst="roundRect">
            <a:avLst>
              <a:gd name="adj" fmla="val 6522"/>
            </a:avLst>
          </a:prstGeom>
          <a:solidFill>
            <a:srgbClr val="F5F8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3968496"/>
            <a:ext cx="5989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delays (hill logistics)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4315968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Contingency buffer; avoid adverse-weather windows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837176"/>
            <a:ext cx="6309360" cy="841248"/>
          </a:xfrm>
          <a:prstGeom prst="roundRect">
            <a:avLst>
              <a:gd name="adj" fmla="val 6522"/>
            </a:avLst>
          </a:prstGeom>
          <a:solidFill>
            <a:srgbClr val="F5F8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4910328"/>
            <a:ext cx="5989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Regulatory/NABH delays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5257800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Start documentation in parallel with construction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779008"/>
            <a:ext cx="6309360" cy="841248"/>
          </a:xfrm>
          <a:prstGeom prst="roundRect">
            <a:avLst>
              <a:gd name="adj" fmla="val 6522"/>
            </a:avLst>
          </a:prstGeom>
          <a:solidFill>
            <a:srgbClr val="F5F8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5852160"/>
            <a:ext cx="5989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Early-year cash-flow / DSCR stress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6199632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Lender moratorium; phase non-critical CAPEX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2/3 EXPANSION TRIGGERS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86600" y="2011680"/>
            <a:ext cx="4572000" cy="4572000"/>
          </a:xfrm>
          <a:prstGeom prst="roundRect">
            <a:avLst>
              <a:gd name="adj" fmla="val 1600"/>
            </a:avLst>
          </a:prstGeom>
          <a:solidFill>
            <a:srgbClr val="1F4E7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0" y="22402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sustained above ~55% for 2 consecutive quarters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0175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 footfall at/above Year-2 model target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37947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monthly EBITDA for 2 consecutive quarters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45720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F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Then: Cardiology/Cath Lab, Nephrology/Dialysis, MRI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50749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(Neuro, advanced Oncology, IVF) evaluated only after Phase 2 lines show sustained utilisation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645920"/>
            <a:ext cx="2926080" cy="2926080"/>
          </a:xfrm>
          <a:prstGeom prst="ellipse">
            <a:avLst/>
          </a:prstGeom>
          <a:solidFill>
            <a:srgbClr val="2CA58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1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Strategy &amp; Decision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2CA58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GO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across market, location, service-model, financial, operational and competitive dimensions supports proceeding to due diligence — not construction.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37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PRECEDENT TO FULL COMMITMENT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 w="9525">
            <a:solidFill>
              <a:srgbClr val="61A5C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703320"/>
            <a:ext cx="19019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due diligence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(soil, title, zoning)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52344" y="3703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 w="9525">
            <a:solidFill>
              <a:srgbClr val="61A5C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43784" y="3703320"/>
            <a:ext cx="19019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demand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study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56048" y="3703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 w="9525">
            <a:solidFill>
              <a:srgbClr val="61A5C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3703320"/>
            <a:ext cx="19019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pre-clearance &amp; NABH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59752" y="3703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 w="9525">
            <a:solidFill>
              <a:srgbClr val="61A5C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51192" y="3703320"/>
            <a:ext cx="19019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Lender-grade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appraisal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63456" y="3703320"/>
            <a:ext cx="2084832" cy="1417320"/>
          </a:xfrm>
          <a:prstGeom prst="roundRect">
            <a:avLst>
              <a:gd name="adj" fmla="val 5161"/>
            </a:avLst>
          </a:prstGeom>
          <a:solidFill>
            <a:srgbClr val="1F4E78"/>
          </a:solidFill>
          <a:ln w="9525">
            <a:solidFill>
              <a:srgbClr val="61A5C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54896" y="3703320"/>
            <a:ext cx="19019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consultant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0"/>
          </a:xfrm>
          <a:prstGeom prst="line">
            <a:avLst/>
          </a:prstGeom>
          <a:noFill/>
          <a:ln w="12700">
            <a:solidFill>
              <a:srgbClr val="2C4A6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5778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360 makes a credible, transparently-labelled case for a 100-bed regional multispecialty hospital in the Kangra–Palampur corridor — the recommendation to proceed is genuine, and it is a recommendation to proceed to due diligence.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2026-09-18T05:40:43Z</dcterms:created>
  <dcterms:modified xsi:type="dcterms:W3CDTF">2026-09-18T05:40:43Z</dcterms:modified>
</cp:coreProperties>
</file>